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e diniz" userId="49e652f6aa467e6d" providerId="LiveId" clId="{B08AC6DA-EA83-4D43-8C15-1A9EDF0939B9}"/>
    <pc:docChg chg="undo custSel modSld">
      <pc:chgData name="kaue diniz" userId="49e652f6aa467e6d" providerId="LiveId" clId="{B08AC6DA-EA83-4D43-8C15-1A9EDF0939B9}" dt="2026-06-25T22:20:51.122" v="7" actId="1076"/>
      <pc:docMkLst>
        <pc:docMk/>
      </pc:docMkLst>
      <pc:sldChg chg="modSp mod">
        <pc:chgData name="kaue diniz" userId="49e652f6aa467e6d" providerId="LiveId" clId="{B08AC6DA-EA83-4D43-8C15-1A9EDF0939B9}" dt="2026-06-25T22:12:06.299" v="0" actId="207"/>
        <pc:sldMkLst>
          <pc:docMk/>
          <pc:sldMk cId="0" sldId="256"/>
        </pc:sldMkLst>
        <pc:spChg chg="mod">
          <ac:chgData name="kaue diniz" userId="49e652f6aa467e6d" providerId="LiveId" clId="{B08AC6DA-EA83-4D43-8C15-1A9EDF0939B9}" dt="2026-06-25T22:12:06.299" v="0" actId="20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kaue diniz" userId="49e652f6aa467e6d" providerId="LiveId" clId="{B08AC6DA-EA83-4D43-8C15-1A9EDF0939B9}" dt="2026-06-25T22:20:51.122" v="7" actId="1076"/>
        <pc:sldMkLst>
          <pc:docMk/>
          <pc:sldMk cId="0" sldId="260"/>
        </pc:sldMkLst>
        <pc:spChg chg="mod">
          <ac:chgData name="kaue diniz" userId="49e652f6aa467e6d" providerId="LiveId" clId="{B08AC6DA-EA83-4D43-8C15-1A9EDF0939B9}" dt="2026-06-25T22:20:42.210" v="5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kaue diniz" userId="49e652f6aa467e6d" providerId="LiveId" clId="{B08AC6DA-EA83-4D43-8C15-1A9EDF0939B9}" dt="2026-06-25T22:20:51.122" v="7" actId="1076"/>
          <ac:spMkLst>
            <pc:docMk/>
            <pc:sldMk cId="0" sldId="260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69C8B-FE73-40DF-9BD5-1E3515F5CB16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696FD-CD21-40A1-A886-383CE29059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780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A696FD-CD21-40A1-A886-383CE290591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35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BFD3E6"/>
                </a:solidFill>
                <a:latin typeface="Calibri"/>
              </a:rPr>
              <a:t>UNIVERSIDADE SÃO JUDAS TADEU</a:t>
            </a:r>
          </a:p>
          <a:p>
            <a:pPr algn="ctr"/>
            <a:r>
              <a:rPr sz="1400" b="0">
                <a:solidFill>
                  <a:srgbClr val="BFD3E6"/>
                </a:solidFill>
                <a:latin typeface="Calibri"/>
              </a:rPr>
              <a:t>Curso de Engenharia de Software  •  Sistemas Automatizados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3465" y="2286000"/>
            <a:ext cx="6164765" cy="13542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Calibri"/>
              </a:rPr>
              <a:t>Sistema 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Automatizado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de</a:t>
            </a:r>
            <a:br>
              <a:rPr dirty="0"/>
            </a:br>
            <a:r>
              <a:rPr dirty="0" err="1">
                <a:solidFill>
                  <a:schemeClr val="bg1"/>
                </a:solidFill>
              </a:rPr>
              <a:t>Portão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dirty="0" err="1">
                <a:solidFill>
                  <a:schemeClr val="bg1"/>
                </a:solidFill>
              </a:rPr>
              <a:t>Garagem</a:t>
            </a:r>
            <a:endParaRPr dirty="0">
              <a:solidFill>
                <a:schemeClr val="bg1"/>
              </a:solidFill>
            </a:endParaRPr>
          </a:p>
          <a:p>
            <a:pPr algn="ctr"/>
            <a:r>
              <a:rPr sz="2000" b="0" dirty="0" err="1">
                <a:solidFill>
                  <a:srgbClr val="CFE0F0"/>
                </a:solidFill>
                <a:latin typeface="Calibri"/>
              </a:rPr>
              <a:t>Desenvolvimento</a:t>
            </a:r>
            <a:r>
              <a:rPr sz="2000" b="0" dirty="0">
                <a:solidFill>
                  <a:srgbClr val="CFE0F0"/>
                </a:solidFill>
                <a:latin typeface="Calibri"/>
              </a:rPr>
              <a:t> e </a:t>
            </a:r>
            <a:r>
              <a:rPr sz="2000" b="0" dirty="0" err="1">
                <a:solidFill>
                  <a:srgbClr val="CFE0F0"/>
                </a:solidFill>
                <a:latin typeface="Calibri"/>
              </a:rPr>
              <a:t>Simulação</a:t>
            </a:r>
            <a:r>
              <a:rPr sz="2000" b="0" dirty="0">
                <a:solidFill>
                  <a:srgbClr val="CFE0F0"/>
                </a:solidFill>
                <a:latin typeface="Calibri"/>
              </a:rPr>
              <a:t> de </a:t>
            </a:r>
            <a:r>
              <a:rPr sz="2000" b="0" dirty="0" err="1">
                <a:solidFill>
                  <a:srgbClr val="CFE0F0"/>
                </a:solidFill>
                <a:latin typeface="Calibri"/>
              </a:rPr>
              <a:t>Lógica</a:t>
            </a:r>
            <a:r>
              <a:rPr sz="2000" b="0" dirty="0">
                <a:solidFill>
                  <a:srgbClr val="CFE0F0"/>
                </a:solidFill>
                <a:latin typeface="Calibri"/>
              </a:rPr>
              <a:t> Ladder </a:t>
            </a:r>
            <a:r>
              <a:rPr sz="2000" b="0" dirty="0" err="1">
                <a:solidFill>
                  <a:srgbClr val="CFE0F0"/>
                </a:solidFill>
                <a:latin typeface="Calibri"/>
              </a:rPr>
              <a:t>em</a:t>
            </a:r>
            <a:r>
              <a:rPr sz="2000" b="0" dirty="0">
                <a:solidFill>
                  <a:srgbClr val="CFE0F0"/>
                </a:solidFill>
                <a:latin typeface="Calibri"/>
              </a:rPr>
              <a:t> CLP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1104" y="4480560"/>
            <a:ext cx="3657600" cy="381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Kauê Melo Diniz  —  RA: 823130975</a:t>
            </a:r>
          </a:p>
          <a:p>
            <a:pPr algn="ctr"/>
            <a:r>
              <a:rPr sz="1600" b="0">
                <a:solidFill>
                  <a:srgbClr val="CFE0F0"/>
                </a:solidFill>
                <a:latin typeface="Calibri"/>
              </a:rPr>
              <a:t>Orientador: Prof. Robson Calvetti</a:t>
            </a:r>
          </a:p>
          <a:p>
            <a:pPr algn="ctr"/>
            <a:r>
              <a:rPr sz="1400" b="0">
                <a:solidFill>
                  <a:srgbClr val="BFD3E6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Roteiro da Apresentação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Calibri"/>
              </a:rPr>
              <a:t>•  O problema: o portão de garagem automático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Calibri"/>
              </a:rPr>
              <a:t>•  Descrição do sistema e seu comportamento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Calibri"/>
              </a:rPr>
              <a:t>•  Arquitetura e modelagem (CLP e PLC Fiddle)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Calibri"/>
              </a:rPr>
              <a:t>•  A lógica de controle em Ladder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Calibri"/>
              </a:rPr>
              <a:t>•  Problemas encontrados e soluções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Calibri"/>
              </a:rPr>
              <a:t>•  Demonstração da simulação e resultados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404040"/>
                </a:solidFill>
                <a:latin typeface="Calibri"/>
              </a:rPr>
              <a:t>•  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A3 — Sistemas Automatizados — Kauê Melo Diniz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Portões de garagem automáticos são comandados, normalmente, por um único botão (como um controle remoto).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Apesar de parecer simples, a cada toque o sistema precisa decidir:</a:t>
            </a:r>
          </a:p>
          <a:p>
            <a:pPr lvl="1"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–  Abrir, fechar, parar ou retomar o movimento?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E ainda tratar situações de segurança:</a:t>
            </a:r>
          </a:p>
          <a:p>
            <a:pPr lvl="1"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–  Detecção de obstáculo (fotocélula)</a:t>
            </a:r>
          </a:p>
          <a:p>
            <a:pPr lvl="1"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–  Parada de emergência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Desafio: projetar essa lógica em linguagem Ladder, de forma segura e previsível, usando um só botão.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A3 — Sistemas Automatizados — Kauê Melo Diniz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Descrição do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Fechado + botão  →  abre até o fim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Em movimento + botão  →  para na posição atual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Parado no meio + botão  →  retoma o mesmo movimento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Aberto + botão  →  fecha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Aberto e parado por 10 s  →  fecha sozinho (automático)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Obstáculo durante o fechamento  →  para e reabre por segurança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Emergência acionada  →  desliga tudo; ao soltar, fica parado até novo comando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A3 — Sistemas Automatizados — Kauê Melo Diniz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Entradas e Saídas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Calibri"/>
              </a:rPr>
              <a:t>Entradas (sensores)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Botão de comando (único)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Fim de curso – aberto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Fim de curso – fechado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Fotocélula (obstáculo)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Botão de emergência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Calibri"/>
              </a:rPr>
              <a:t>Saídas (atuadores)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04040"/>
                </a:solidFill>
                <a:latin typeface="Calibri"/>
              </a:rPr>
              <a:t>•  Motor – </a:t>
            </a:r>
            <a:r>
              <a:rPr sz="2000" b="0" dirty="0" err="1">
                <a:solidFill>
                  <a:srgbClr val="404040"/>
                </a:solidFill>
                <a:latin typeface="Calibri"/>
              </a:rPr>
              <a:t>sentido</a:t>
            </a:r>
            <a:r>
              <a:rPr sz="2000" b="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2000" b="0" dirty="0" err="1">
                <a:solidFill>
                  <a:srgbClr val="404040"/>
                </a:solidFill>
                <a:latin typeface="Calibri"/>
              </a:rPr>
              <a:t>abrir</a:t>
            </a:r>
            <a:endParaRPr sz="2000" b="0" dirty="0">
              <a:solidFill>
                <a:srgbClr val="404040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04040"/>
                </a:solidFill>
                <a:latin typeface="Calibri"/>
              </a:rPr>
              <a:t>•  Motor – </a:t>
            </a:r>
            <a:r>
              <a:rPr sz="2000" b="0" dirty="0" err="1">
                <a:solidFill>
                  <a:srgbClr val="404040"/>
                </a:solidFill>
                <a:latin typeface="Calibri"/>
              </a:rPr>
              <a:t>sentido</a:t>
            </a:r>
            <a:r>
              <a:rPr sz="2000" b="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2000" b="0" dirty="0" err="1">
                <a:solidFill>
                  <a:srgbClr val="404040"/>
                </a:solidFill>
                <a:latin typeface="Calibri"/>
              </a:rPr>
              <a:t>fechar</a:t>
            </a:r>
            <a:endParaRPr sz="2000" b="0" dirty="0">
              <a:solidFill>
                <a:srgbClr val="404040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04040"/>
                </a:solidFill>
                <a:latin typeface="Calibri"/>
              </a:rPr>
              <a:t>•  </a:t>
            </a:r>
            <a:r>
              <a:rPr sz="2000" b="0" dirty="0" err="1">
                <a:solidFill>
                  <a:srgbClr val="404040"/>
                </a:solidFill>
                <a:latin typeface="Calibri"/>
              </a:rPr>
              <a:t>Sinaleiro</a:t>
            </a:r>
            <a:r>
              <a:rPr sz="2000" b="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2000" b="0" dirty="0" err="1">
                <a:solidFill>
                  <a:srgbClr val="404040"/>
                </a:solidFill>
                <a:latin typeface="Calibri"/>
              </a:rPr>
              <a:t>advertência</a:t>
            </a:r>
            <a:endParaRPr sz="2000" b="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5120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2E6DA4"/>
                </a:solidFill>
                <a:latin typeface="Calibri"/>
              </a:rPr>
              <a:t>+ </a:t>
            </a:r>
            <a:r>
              <a:rPr sz="1800" b="1" dirty="0" err="1">
                <a:solidFill>
                  <a:srgbClr val="2E6DA4"/>
                </a:solidFill>
                <a:latin typeface="Calibri"/>
              </a:rPr>
              <a:t>memórias</a:t>
            </a:r>
            <a:r>
              <a:rPr sz="1800" b="1" dirty="0">
                <a:solidFill>
                  <a:srgbClr val="2E6DA4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2E6DA4"/>
                </a:solidFill>
                <a:latin typeface="Calibri"/>
              </a:rPr>
              <a:t>internas</a:t>
            </a:r>
            <a:r>
              <a:rPr sz="1800" b="1" dirty="0">
                <a:solidFill>
                  <a:srgbClr val="2E6DA4"/>
                </a:solidFill>
                <a:latin typeface="Calibri"/>
              </a:rPr>
              <a:t> e 1 </a:t>
            </a:r>
            <a:r>
              <a:rPr sz="1800" b="1" dirty="0" err="1">
                <a:solidFill>
                  <a:srgbClr val="2E6DA4"/>
                </a:solidFill>
                <a:latin typeface="Calibri"/>
              </a:rPr>
              <a:t>temporizador</a:t>
            </a:r>
            <a:r>
              <a:rPr sz="1800" b="1" dirty="0">
                <a:solidFill>
                  <a:srgbClr val="2E6DA4"/>
                </a:solidFill>
                <a:latin typeface="Calibri"/>
              </a:rPr>
              <a:t> (</a:t>
            </a:r>
            <a:r>
              <a:rPr sz="1800" b="1" dirty="0" err="1">
                <a:solidFill>
                  <a:srgbClr val="2E6DA4"/>
                </a:solidFill>
                <a:latin typeface="Calibri"/>
              </a:rPr>
              <a:t>fechamento</a:t>
            </a:r>
            <a:r>
              <a:rPr sz="1800" b="1" dirty="0">
                <a:solidFill>
                  <a:srgbClr val="2E6DA4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2E6DA4"/>
                </a:solidFill>
                <a:latin typeface="Calibri"/>
              </a:rPr>
              <a:t>automático</a:t>
            </a:r>
            <a:r>
              <a:rPr sz="1800" b="1" dirty="0">
                <a:solidFill>
                  <a:srgbClr val="2E6DA4"/>
                </a:solidFill>
                <a:latin typeface="Calibri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A3 — Sistemas Automatizados — Kauê Melo Diniz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Arquitetura e Modelagem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CLP (Controlador Lógico Programável): executa a lógica em ciclo de varredura (scan) — lê entradas, processa, atualiza saídas, repetidamente.</a:t>
            </a:r>
          </a:p>
          <a:p>
            <a:pPr algn="l">
              <a:spcAft>
                <a:spcPts val="9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Ferramenta: PLC Fiddle — simulador online de Ladder, recomendado na especificação.</a:t>
            </a:r>
          </a:p>
          <a:p>
            <a:pPr lvl="1" algn="l">
              <a:spcAft>
                <a:spcPts val="900"/>
              </a:spcAft>
            </a:pPr>
            <a:r>
              <a:rPr sz="1900" b="0">
                <a:solidFill>
                  <a:srgbClr val="404040"/>
                </a:solidFill>
                <a:latin typeface="Calibri"/>
              </a:rPr>
              <a:t>–  Permite criar variáveis, montar a lógica e testar sem hardware físico.</a:t>
            </a:r>
          </a:p>
          <a:p>
            <a:pPr algn="l">
              <a:spcAft>
                <a:spcPts val="9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Metodologia seguida:</a:t>
            </a:r>
          </a:p>
          <a:p>
            <a:pPr lvl="1" algn="l">
              <a:spcAft>
                <a:spcPts val="900"/>
              </a:spcAft>
            </a:pPr>
            <a:r>
              <a:rPr sz="1900" b="0">
                <a:solidFill>
                  <a:srgbClr val="404040"/>
                </a:solidFill>
                <a:latin typeface="Calibri"/>
              </a:rPr>
              <a:t>–  Especificar o comportamento esperado</a:t>
            </a:r>
          </a:p>
          <a:p>
            <a:pPr lvl="1" algn="l">
              <a:spcAft>
                <a:spcPts val="900"/>
              </a:spcAft>
            </a:pPr>
            <a:r>
              <a:rPr sz="1900" b="0">
                <a:solidFill>
                  <a:srgbClr val="404040"/>
                </a:solidFill>
                <a:latin typeface="Calibri"/>
              </a:rPr>
              <a:t>–  Levantar entradas, saídas, memórias e temporizador</a:t>
            </a:r>
          </a:p>
          <a:p>
            <a:pPr lvl="1" algn="l">
              <a:spcAft>
                <a:spcPts val="900"/>
              </a:spcAft>
            </a:pPr>
            <a:r>
              <a:rPr sz="1900" b="0">
                <a:solidFill>
                  <a:srgbClr val="404040"/>
                </a:solidFill>
                <a:latin typeface="Calibri"/>
              </a:rPr>
              <a:t>–  Implementar a lógica rung a rung</a:t>
            </a:r>
          </a:p>
          <a:p>
            <a:pPr lvl="1" algn="l">
              <a:spcAft>
                <a:spcPts val="900"/>
              </a:spcAft>
            </a:pPr>
            <a:r>
              <a:rPr sz="1900" b="0">
                <a:solidFill>
                  <a:srgbClr val="404040"/>
                </a:solidFill>
                <a:latin typeface="Calibri"/>
              </a:rPr>
              <a:t>–  Validar por cenários de teste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A3 — Sistemas Automatizados — Kauê Melo Diniz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5. A Lógica de Controle (Ladder)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Solução organizada em 18 linhas (rungs), executadas de cima para baixo.</a:t>
            </a:r>
          </a:p>
          <a:p>
            <a:pPr algn="l">
              <a:spcAft>
                <a:spcPts val="9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Três técnicas-chave fizeram o sistema funcionar:</a:t>
            </a:r>
          </a:p>
          <a:p>
            <a:pPr lvl="1" algn="l">
              <a:spcAft>
                <a:spcPts val="900"/>
              </a:spcAft>
            </a:pPr>
            <a:r>
              <a:rPr sz="1900" b="0">
                <a:solidFill>
                  <a:srgbClr val="404040"/>
                </a:solidFill>
                <a:latin typeface="Calibri"/>
              </a:rPr>
              <a:t>–  Pulso do botão (detecção de borda): cada toque gera uma única ação.</a:t>
            </a:r>
          </a:p>
          <a:p>
            <a:pPr lvl="1" algn="l">
              <a:spcAft>
                <a:spcPts val="900"/>
              </a:spcAft>
            </a:pPr>
            <a:r>
              <a:rPr sz="1900" b="0">
                <a:solidFill>
                  <a:srgbClr val="404040"/>
                </a:solidFill>
                <a:latin typeface="Calibri"/>
              </a:rPr>
              <a:t>–  Memórias Set / Reset: registram o estado dos comandos (abrir/fechar).</a:t>
            </a:r>
          </a:p>
          <a:p>
            <a:pPr lvl="1" algn="l">
              <a:spcAft>
                <a:spcPts val="900"/>
              </a:spcAft>
            </a:pPr>
            <a:r>
              <a:rPr sz="1900" b="0">
                <a:solidFill>
                  <a:srgbClr val="404040"/>
                </a:solidFill>
                <a:latin typeface="Calibri"/>
              </a:rPr>
              <a:t>–  Instantâneo de movimento: 'foto' do estado no início do ciclo, para parar e retomar não se confundirem.</a:t>
            </a:r>
          </a:p>
          <a:p>
            <a:pPr algn="l">
              <a:spcAft>
                <a:spcPts val="9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Intertravamento de segurança para obstáculo e emergência.</a:t>
            </a:r>
          </a:p>
          <a:p>
            <a:pPr algn="l">
              <a:spcAft>
                <a:spcPts val="9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Temporizador on-delay (10 s) para o fechamento automático.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A3 — Sistemas Automatizados — Kauê Melo Diniz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Problemas Encontrados e Soluções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Disputa entre Set e Reset no mesmo ciclo  →  o portão não abria no 1º toque.</a:t>
            </a:r>
          </a:p>
          <a:p>
            <a:pPr lvl="1"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–  Solução: executar o Reset antes do Set.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Depois, o portão não parava no meio do movimento.</a:t>
            </a:r>
          </a:p>
          <a:p>
            <a:pPr lvl="1"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–  Solução: 'instantâneo de movimento' (estava abrindo / estava fechando).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Fechamento automático acionava o motor direto, sem a trava de segurança.</a:t>
            </a:r>
          </a:p>
          <a:p>
            <a:pPr lvl="1"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–  Solução: redirecionar para o comando interno correto.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Após a emergência, o portão voltava a se mover sozinho.</a:t>
            </a:r>
          </a:p>
          <a:p>
            <a:pPr lvl="1"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–  Solução: rung que zera os comandos durante a emergência.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Estas descobertas práticas são a principal contribuição do trabalho.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6. Demonstração da Simulação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404040"/>
                </a:solidFill>
                <a:latin typeface="Calibri"/>
              </a:rPr>
              <a:t>•  A lógica completa está pública e pode ser simulada online: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1054577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plcfiddle.com/fiddles/4c5b9150-3a33-47d7-8011-9ba8750eeeb1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Para reproduzir: abrir o link, deixar o portão fechado (fim de curso fechado ligado) e acionar as entradas conforme os cenários.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Observar as saídas: motor de abrir, motor de fechar e sinaleiro.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Demonstração ao vivo: abrir → parar no meio → retomar → fechar → obstáculo reabre.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A3 — Sistemas Automatizados — Kauê Melo Diniz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Resultados — 8 Cenários Testados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7724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1. Fechado + botão → abre até o fim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2. Botão durante o movimento → para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3. Parado no meio + botão → retoma estável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4. Aberto + botão → fecha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5. Obstáculo no fechamento → reabre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6. Aberto 10 s → fecha sozinho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7. Emergência → desliga tudo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404040"/>
                </a:solidFill>
                <a:latin typeface="Calibri"/>
              </a:rPr>
              <a:t>•  8. Solta emergência → não anda sozinho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0" y="2011680"/>
            <a:ext cx="2926080" cy="2377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8 / 8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APROVADOS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57200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  <a:latin typeface="Calibri"/>
              </a:rPr>
              <a:t>Validados de duas formas independentes, com resultados idênticos.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A3 — Sistemas Automatizados — Kauê Melo Diniz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7. Conclusão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A lógica em Ladder implementa, de forma segura, todo o comportamento especificado do portão.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Os 8 cenários de teste foram integralmente aprovados.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O processo evidenciou conceitos essenciais de CLP:</a:t>
            </a:r>
          </a:p>
          <a:p>
            <a:pPr lvl="1" algn="l">
              <a:spcAft>
                <a:spcPts val="1000"/>
              </a:spcAft>
            </a:pPr>
            <a:r>
              <a:rPr sz="1900" b="0">
                <a:solidFill>
                  <a:srgbClr val="404040"/>
                </a:solidFill>
                <a:latin typeface="Calibri"/>
              </a:rPr>
              <a:t>–  A importância da ordem de execução dos rungs.</a:t>
            </a:r>
          </a:p>
          <a:p>
            <a:pPr lvl="1" algn="l">
              <a:spcAft>
                <a:spcPts val="1000"/>
              </a:spcAft>
            </a:pPr>
            <a:r>
              <a:rPr sz="1900" b="0">
                <a:solidFill>
                  <a:srgbClr val="404040"/>
                </a:solidFill>
                <a:latin typeface="Calibri"/>
              </a:rPr>
              <a:t>–  O tratamento cuidadoso de memórias de estado.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A linguagem Ladder mostrou-se adequada e suficiente para a automação proposta.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404040"/>
                </a:solidFill>
                <a:latin typeface="Calibri"/>
              </a:rPr>
              <a:t>•  Trabalhos futuros: implementação em CLP real, sinalização sonora e sensor de corrente no motor.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A3 — Sistemas Automatizados — Kauê Melo Diniz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Obrigado!</a:t>
            </a:r>
          </a:p>
          <a:p>
            <a:pPr algn="ctr"/>
            <a:r>
              <a:rPr sz="2600" b="0">
                <a:solidFill>
                  <a:srgbClr val="CFE0F0"/>
                </a:solidFill>
                <a:latin typeface="Calibri"/>
              </a:rP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Kauê Melo Diniz  —  RA: 823130975</a:t>
            </a:r>
          </a:p>
          <a:p>
            <a:pPr algn="ctr"/>
            <a:r>
              <a:rPr sz="1400" b="0">
                <a:solidFill>
                  <a:srgbClr val="BFD3E6"/>
                </a:solidFill>
                <a:latin typeface="Calibri"/>
              </a:rPr>
              <a:t>Sistemas Automatizados  •  Prof. Robson Calvetti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999</Words>
  <Application>Microsoft Office PowerPoint</Application>
  <PresentationFormat>Widescreen</PresentationFormat>
  <Paragraphs>110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kaue diniz</cp:lastModifiedBy>
  <cp:revision>1</cp:revision>
  <dcterms:created xsi:type="dcterms:W3CDTF">2013-01-27T09:14:16Z</dcterms:created>
  <dcterms:modified xsi:type="dcterms:W3CDTF">2026-06-25T22:21:01Z</dcterms:modified>
  <cp:category/>
</cp:coreProperties>
</file>